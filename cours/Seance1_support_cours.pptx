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 du module. Annoncer le fil rouge PixelHub et les modalites d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Rendre la plateforme concrete avant toute abstraction. Insister sur l etape 6 : une fois, pas deux. Elle reviendra a la fin de la seance.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que l application sera construite en incremental : un moteur ajoute par seance, dans la meme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Modalites a annoncer a l oral : 10 minutes, en binome, au tableau. Les laisser chercher sans aider. Trois solutions vont sortir, les trois sont mauvaises : c est le but. La slide suivante les reprend une par une.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fondateur du module. Faire compter les champs a voix haute : 3 partages, 12 specifiques. C est ce rapport qui rend le relationnel inadapte ici, pas une question de gout.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 du cours magistral. Enchainer oralement sur le TP en distribuant le sujet : le squelette de la solution est deja dans le depot de depart, ils ajoutent le modele, le contexte et Program.cs. Verifier la checklist individuellement avant de laisser partir.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4C3FA8"/>
          </a:solidFill>
          <a:ln w="12700">
            <a:solidFill>
              <a:srgbClr val="4C3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4206240"/>
            <a:ext cx="2377440" cy="2377440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R5.A.10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Nouveaux paradigmes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bases de données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 — Pourquoi le relationnel ne suffit pas toujours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760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Informatique · 3e année · Parcours Réalisation d'applications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module en six séances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application, enrichie à chaque séance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755648" cy="2286000"/>
          </a:xfrm>
          <a:prstGeom prst="roundRect">
            <a:avLst>
              <a:gd name="adj" fmla="val 4688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029968"/>
            <a:ext cx="475488" cy="475488"/>
          </a:xfrm>
          <a:prstGeom prst="ellipse">
            <a:avLst/>
          </a:prstGeom>
          <a:solidFill>
            <a:srgbClr val="4C3FA8"/>
          </a:solidFill>
          <a:ln w="12700">
            <a:solidFill>
              <a:srgbClr val="4C3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2029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70048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017520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Pourquoi, 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1828800"/>
            <a:ext cx="1755648" cy="2286000"/>
          </a:xfrm>
          <a:prstGeom prst="roundRect">
            <a:avLst>
              <a:gd name="adj" fmla="val 4688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90672" y="2029968"/>
            <a:ext cx="475488" cy="475488"/>
          </a:xfrm>
          <a:prstGeom prst="ellipse">
            <a:avLst/>
          </a:prstGeom>
          <a:solidFill>
            <a:srgbClr val="4C3FA8"/>
          </a:solidFill>
          <a:ln w="12700">
            <a:solidFill>
              <a:srgbClr val="4C3F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90672" y="2029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450592" y="2670048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523744" y="3017520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variable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52544" y="1828800"/>
            <a:ext cx="1755648" cy="2286000"/>
          </a:xfrm>
          <a:prstGeom prst="roundRect">
            <a:avLst>
              <a:gd name="adj" fmla="val 4688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92624" y="2029968"/>
            <a:ext cx="475488" cy="475488"/>
          </a:xfrm>
          <a:prstGeom prst="ellipse">
            <a:avLst/>
          </a:prstGeom>
          <a:solidFill>
            <a:srgbClr val="4C3FA8"/>
          </a:solidFill>
          <a:ln w="12700">
            <a:solidFill>
              <a:srgbClr val="4C3F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92624" y="2029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352544" y="2670048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425696" y="3017520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54496" y="1828800"/>
            <a:ext cx="1755648" cy="2286000"/>
          </a:xfrm>
          <a:prstGeom prst="roundRect">
            <a:avLst>
              <a:gd name="adj" fmla="val 4688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94576" y="2029968"/>
            <a:ext cx="475488" cy="475488"/>
          </a:xfrm>
          <a:prstGeom prst="ellipse">
            <a:avLst/>
          </a:prstGeom>
          <a:solidFill>
            <a:srgbClr val="4C3FA8"/>
          </a:solidFill>
          <a:ln w="12700">
            <a:solidFill>
              <a:srgbClr val="4C3F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94576" y="2029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254496" y="2670048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327648" y="3017520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 social,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56448" y="1828800"/>
            <a:ext cx="1755648" cy="2286000"/>
          </a:xfrm>
          <a:prstGeom prst="roundRect">
            <a:avLst>
              <a:gd name="adj" fmla="val 4688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96528" y="2029968"/>
            <a:ext cx="475488" cy="47548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96528" y="2029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8156448" y="2670048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Cohabitation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3017520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058400" y="1828800"/>
            <a:ext cx="1755648" cy="2286000"/>
          </a:xfrm>
          <a:prstGeom prst="roundRect">
            <a:avLst>
              <a:gd name="adj" fmla="val 4688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98480" y="2029968"/>
            <a:ext cx="475488" cy="475488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698480" y="2029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0" y="2670048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0131552" y="3017520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617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fin de la séance 4, votre application tournera avec quatre bases de données en même temps.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séance 5 servira à se demander si c'était une bonne idée.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PixelHub, concrètement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où l'on découvre des jeux, joue des parties classées et achète des skins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11680"/>
            <a:ext cx="475488" cy="475488"/>
          </a:xfrm>
          <a:prstGeom prst="ellipse">
            <a:avLst/>
          </a:prstGeom>
          <a:solidFill>
            <a:srgbClr val="4C3FA8"/>
          </a:solidFill>
          <a:ln w="12700">
            <a:solidFill>
              <a:srgbClr val="4C3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877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se connecte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93522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profil, son niveau, son solde : 1 200 pièces d'or.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2011680"/>
            <a:ext cx="475488" cy="475488"/>
          </a:xfrm>
          <a:prstGeom prst="ellipse">
            <a:avLst/>
          </a:prstGeom>
          <a:solidFill>
            <a:srgbClr val="4C3FA8"/>
          </a:solidFill>
          <a:ln w="12700">
            <a:solidFill>
              <a:srgbClr val="4C3F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9432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5877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parcourt le catalogue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93522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milliers de jeux, filtrables par genre, plateforme, tags.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94192" y="2011680"/>
            <a:ext cx="475488" cy="475488"/>
          </a:xfrm>
          <a:prstGeom prst="ellipse">
            <a:avLst/>
          </a:prstGeom>
          <a:solidFill>
            <a:srgbClr val="4C3FA8"/>
          </a:solidFill>
          <a:ln w="12700">
            <a:solidFill>
              <a:srgbClr val="4C3F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94192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94192" y="25877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rejoint une file d'attente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293522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matchmaking l'apparie à un adversaire de son niveau.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4023360"/>
            <a:ext cx="475488" cy="475488"/>
          </a:xfrm>
          <a:prstGeom prst="ellipse">
            <a:avLst/>
          </a:prstGeom>
          <a:solidFill>
            <a:srgbClr val="4C3FA8"/>
          </a:solidFill>
          <a:ln w="12700">
            <a:solidFill>
              <a:srgbClr val="4C3F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45994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joue une partie classée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94690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score évolue, elle gagne trois places au classement.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379476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9432" y="4023360"/>
            <a:ext cx="475488" cy="475488"/>
          </a:xfrm>
          <a:prstGeom prst="ellipse">
            <a:avLst/>
          </a:prstGeom>
          <a:solidFill>
            <a:srgbClr val="4C3FA8"/>
          </a:solidFill>
          <a:ln w="12700">
            <a:solidFill>
              <a:srgbClr val="4C3F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99432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599432" y="45994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voit ce que jouent ses amis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99432" y="494690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de ses amis ont Hades II, qu'elle ne possède pas.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379476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0EC"/>
          </a:solidFill>
          <a:ln w="12700">
            <a:solidFill>
              <a:srgbClr val="FFF0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94192" y="4023360"/>
            <a:ext cx="475488" cy="47548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94192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394192" y="45994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achète un skin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94192" y="494690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pièces débitées de son solde. Une fois, pas deux.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actions banales. Six formes de données radicalement différentes.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familles de données dans une seule application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produit, vu du côté des données qu'il faut stocker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084832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487168"/>
            <a:ext cx="2295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milliers de jeux,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fiches très différentes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le genre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7452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1880" y="2084832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487168"/>
            <a:ext cx="2295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d'attente, joueurs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ligne, classements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à jour en continu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7452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73952" y="2084832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Communauté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2487168"/>
            <a:ext cx="2295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Amis, guildes,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 joué avec »,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7452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FFF0EC"/>
          </a:solidFill>
          <a:ln w="12700">
            <a:solidFill>
              <a:srgbClr val="FFF0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36024" y="2084832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336024" y="2487168"/>
            <a:ext cx="2295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Monnaie virtuelle,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achats de skins,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3434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Faut-il vraiment les stocker toutes de la même façon ?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800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la question des dix-huit heures. On commence par le catalogue.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catalogue de PixelHub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jeux, trois fiches qui n'ont presque rien en commun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11880" cy="2514600"/>
          </a:xfrm>
          <a:prstGeom prst="roundRect">
            <a:avLst>
              <a:gd name="adj" fmla="val 3273"/>
            </a:avLst>
          </a:prstGeom>
          <a:solidFill>
            <a:srgbClr val="2B2652"/>
          </a:solidFill>
          <a:ln w="12700">
            <a:solidFill>
              <a:srgbClr val="453D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2128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Counter-Strike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7860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260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joueurs par équipe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cartes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 de jeu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compétitif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611880" cy="2514600"/>
          </a:xfrm>
          <a:prstGeom prst="roundRect">
            <a:avLst>
              <a:gd name="adj" fmla="val 3273"/>
            </a:avLst>
          </a:prstGeom>
          <a:solidFill>
            <a:srgbClr val="2B2652"/>
          </a:solidFill>
          <a:ln w="12700">
            <a:solidFill>
              <a:srgbClr val="453D7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22128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Cities: Skylines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57860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9260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scénarios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de carte max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bac à sable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d'une partie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2011680"/>
            <a:ext cx="3611880" cy="2514600"/>
          </a:xfrm>
          <a:prstGeom prst="roundRect">
            <a:avLst>
              <a:gd name="adj" fmla="val 3273"/>
            </a:avLst>
          </a:prstGeom>
          <a:solidFill>
            <a:srgbClr val="2B2652"/>
          </a:solidFill>
          <a:ln w="12700">
            <a:solidFill>
              <a:srgbClr val="453D7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22128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Stardew Valley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57860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9260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saisons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personnages épousables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coopératif ou non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joueurs max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92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modélise-t-on ça en relationnel ?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3949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colonnes, clés étrangères — les outils que vous connaissez depuis deux ans.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Vos trois solutions, vos trois problèmes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901952"/>
            <a:ext cx="475488" cy="47548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8716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table, toutes les colonnes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90672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 à 70 %. Et au 40e genre ?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nouveau type de jeu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impose un ALTER TABLE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901952"/>
            <a:ext cx="475488" cy="47548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48716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table par genre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090672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afficher « tous les jeux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triés par note » ? Une UNION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N tables, à réécrire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nouveau genre.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69164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1901952"/>
            <a:ext cx="475488" cy="47548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6760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48716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+ table Attribut(clé, valeur)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090672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intuition ! Mais valeur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un VARCHAR : plus de typage,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WHERE nb_joueurs &gt; 4,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des jointures partout.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754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n'est pas que vous modélisez mal.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C3F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D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vrai problème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catalogue de jeux n'a pas de schéma fixe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246120" cy="2286000"/>
          </a:xfrm>
          <a:prstGeom prst="roundRect">
            <a:avLst>
              <a:gd name="adj" fmla="val 3600"/>
            </a:avLst>
          </a:prstGeom>
          <a:solidFill>
            <a:srgbClr val="2B2652"/>
          </a:solidFill>
          <a:ln w="25400">
            <a:solidFill>
              <a:srgbClr val="2FBF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Communs aux trois jeux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450592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titre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genre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675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champs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0" y="1874520"/>
            <a:ext cx="7498080" cy="2286000"/>
          </a:xfrm>
          <a:prstGeom prst="roundRect">
            <a:avLst>
              <a:gd name="adj" fmla="val 3600"/>
            </a:avLst>
          </a:prstGeom>
          <a:solidFill>
            <a:srgbClr val="2B2652"/>
          </a:solidFill>
          <a:ln w="25400">
            <a:solidFill>
              <a:srgbClr val="FF6B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70832" y="20574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Présents sur un seul jeu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370832" y="2450592"/>
            <a:ext cx="7040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joueursParEquipe   cartes   modes   classementCompetitif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scenarios   tailleCarteMax   modeBacASable   dureeMoyenne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CFC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nombreSaisons   personnagesEpousables   coop   joueursMax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370832" y="367588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champs — et un nouveau genre en ajoutera d'autres demain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8912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relationnel exige un schéma fixe.</a:t>
            </a:r>
            <a:endParaRPr lang="en-US" sz="2500" dirty="0"/>
          </a:p>
          <a:p>
            <a:pPr indent="0" marL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Vous ne modélisez pas mal : vous vous battez contre l'outil.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548640" y="5577840"/>
            <a:ext cx="8595360" cy="685800"/>
          </a:xfrm>
          <a:prstGeom prst="roundRect">
            <a:avLst>
              <a:gd name="adj" fmla="val 12000"/>
            </a:avLst>
          </a:prstGeom>
          <a:solidFill>
            <a:srgbClr val="3A2E8C"/>
          </a:solidFill>
          <a:ln w="12700">
            <a:solidFill>
              <a:srgbClr val="5C4F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55778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existe des moteurs conçus pour cette forme de donnée. On en voit un la semaine prochaine.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schéma variable n'est qu'un cas parmi d'autres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27632"/>
            <a:ext cx="475488" cy="475488"/>
          </a:xfrm>
          <a:prstGeom prst="ellipse">
            <a:avLst/>
          </a:prstGeom>
          <a:solidFill>
            <a:srgbClr val="4C3FA8"/>
          </a:solidFill>
          <a:ln w="12700">
            <a:solidFill>
              <a:srgbClr val="4C3F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27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261872" y="15544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jointures en profondeur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9202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Quels jeux possèdent les amis de mes amis ? » Chaque niveau ajoute une jointure. En profondeur 4, le SQL devient illisible avant de devenir lent.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475488" cy="475488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26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28529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montée en charge horizontale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321868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Répartir les données sur 20 machines : une jointure entre deux serveurs, ou une transaction qui verrouille trois machines, coûte très cher.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224528"/>
            <a:ext cx="475488" cy="47548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224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415137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éphémères et intensives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4517136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nombre de joueurs en ligne change 500 fois par seconde et ne vaut rien dans une heure. Un INSERT sur disque pour ça, c'est du gâchis.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53212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FFF0EC"/>
          </a:solidFill>
          <a:ln w="12700">
            <a:solidFill>
              <a:srgbClr val="FFD5C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56692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 : le relationnel est excellent pour ce pour quoi il a été conçu. Ces cas-là sortent de son domaine de conception.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Grossir, ou se multiplier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façons d'encaisser plus de charge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3200400"/>
          </a:xfrm>
          <a:prstGeom prst="roundRect">
            <a:avLst>
              <a:gd name="adj" fmla="val 2571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(vertical)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machine plus grosse : plus de RAM, plus de CPU.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: rien à changer dans le code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Plafond physique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qui explose en haut de gamme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783080"/>
            <a:ext cx="5212080" cy="3200400"/>
          </a:xfrm>
          <a:prstGeom prst="roundRect">
            <a:avLst>
              <a:gd name="adj" fmla="val 2571"/>
            </a:avLst>
          </a:prstGeom>
          <a:solidFill>
            <a:srgbClr val="ECF8F3"/>
          </a:solidFill>
          <a:ln w="12700">
            <a:solidFill>
              <a:srgbClr val="ECF8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0" y="20116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Scale-out (horizontal)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423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de machines modestes.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88036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Théoriquement sans limite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faut répartir les données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Jointures et transactions entre machines : très coûteuses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2120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relationnel préfère une grosse machine. Le NoSQL préfère beaucoup de petites machines.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plupart des moteurs NoSQL ont été conçus pour le scale-out — en acceptant de renoncer à certaines garanties.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quatre familles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forme de donnée, une structure d'accès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65960"/>
            <a:ext cx="384048" cy="384048"/>
          </a:xfrm>
          <a:prstGeom prst="ellipse">
            <a:avLst/>
          </a:prstGeom>
          <a:solidFill>
            <a:srgbClr val="4C3FA8"/>
          </a:solidFill>
          <a:ln w="12700">
            <a:solidFill>
              <a:srgbClr val="4C3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19293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Clé-valeur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267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Redis, DynamoDB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6060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dictionnaire géant.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donne une clé, on obtient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valeur. Rien d'autre.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6060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Cache, session,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169164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11112" y="1965960"/>
            <a:ext cx="384048" cy="384048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0" y="19293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267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MongoDB, CouchDB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611112" y="26060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documents JSON groupés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collections. Chacun peut avoir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propre structure.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012680" y="26060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Catalogue,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profil, contenu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160520"/>
            <a:ext cx="384048" cy="38404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25880" y="41239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462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Neo4j, ArangoDB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800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nœuds et des relations.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relation est un objet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 entière.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206240" y="48006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social,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55080" y="388620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11112" y="4160520"/>
            <a:ext cx="384048" cy="384048"/>
          </a:xfrm>
          <a:prstGeom prst="ellipse">
            <a:avLst/>
          </a:prstGeom>
          <a:solidFill>
            <a:srgbClr val="7A6FD0"/>
          </a:solidFill>
          <a:ln w="12700">
            <a:solidFill>
              <a:srgbClr val="7A6F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0" y="41239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larges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4462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Cassandra, HBase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611112" y="4800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lignes à colonnes variables,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stockées par colonne,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réparties sur N machines.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012680" y="48006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télémétrie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Récapitulatif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recopier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651760"/>
                <a:gridCol w="2651760"/>
                <a:gridCol w="3648456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Unité stockée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interroge par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 d'usage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Clé-valeur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 valeur opaque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clé, uniquement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Cache, classement, session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document JSON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N'importe quel champ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Catalogue, profil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Nœuds et relations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 motifs de relations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Recommandation, réseau social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Colonnes larges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Lignes à colonnes variables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clé de partition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Logs, télémétrie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 ligne typée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SQL, jointures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Transactions, facturation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fera pas de TP sur les colonnes larges : elles sont abordées en ouverture en séance 5.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théorème CAP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propriétés, dans un système distribué sur plusieurs machines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2606040"/>
          </a:xfrm>
          <a:prstGeom prst="roundRect">
            <a:avLst>
              <a:gd name="adj" fmla="val 3158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65960" y="2057400"/>
            <a:ext cx="777240" cy="777240"/>
          </a:xfrm>
          <a:prstGeom prst="ellipse">
            <a:avLst/>
          </a:prstGeom>
          <a:solidFill>
            <a:srgbClr val="4C3FA8"/>
          </a:solidFill>
          <a:ln w="12700">
            <a:solidFill>
              <a:srgbClr val="4C3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65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718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204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lecture renvoie l'écriture la plus récente. Tout le monde voit la même chose au même moment.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611880" cy="2606040"/>
          </a:xfrm>
          <a:prstGeom prst="roundRect">
            <a:avLst>
              <a:gd name="adj" fmla="val 3158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0" y="2057400"/>
            <a:ext cx="777240" cy="777240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9718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5204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requête reçoit une réponse, même si des machines sont tombées.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611880" cy="2606040"/>
          </a:xfrm>
          <a:prstGeom prst="roundRect">
            <a:avLst>
              <a:gd name="adj" fmla="val 3158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55480" y="2057400"/>
            <a:ext cx="777240" cy="777240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5548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9718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Tolérance au partitionnement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5204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continue de fonctionner même si le réseau se coupe entre deux groupes de machines.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709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un partitionnement réseau se produit, il faut choisir entre C et A.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d'avoir les deux à cet instant.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Concrètement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serveurs répliqués. Le câble entre eux est coupé.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108960" cy="868680"/>
          </a:xfrm>
          <a:prstGeom prst="roundRect">
            <a:avLst>
              <a:gd name="adj" fmla="val 9474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105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Lille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joueur écrit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977640" y="173736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0" y="1691640"/>
            <a:ext cx="3108960" cy="868680"/>
          </a:xfrm>
          <a:prstGeom prst="roundRect">
            <a:avLst>
              <a:gd name="adj" fmla="val 9474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12080" y="18105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Marseille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joueur lit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0906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4290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Je ne peux pas garantir que ma donnée est à jour, je refuse de répondre. »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43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gardée · Disponibilité perdue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880360"/>
            <a:ext cx="5212080" cy="2286000"/>
          </a:xfrm>
          <a:prstGeom prst="roundRect">
            <a:avLst>
              <a:gd name="adj" fmla="val 3600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30906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4290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Voici ma version. » — potentiellement périmée.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4343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gardée · Cohérence perdue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n'y a pas de troisième porte.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à l'erreur classique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FF0EC"/>
          </a:solidFill>
          <a:ln w="12700">
            <a:solidFill>
              <a:srgbClr val="FFB8A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E3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Choisissez 2 propriétés sur 3 »  →  formulation trompeuse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un système distribué, les coupures réseau ne sont pas une option qu'on décline : elles arrivent. P n'est donc pas un choix.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vrai arbitrage est : cohérence ou disponibilité, quand le réseau casse.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quand tout va bien ? CAP ne dit rien du tout. C'est précisément sa limite.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77316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PACELC — l'extension qui comble ce vide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138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Partitionnement : arbitrer Availability / Consistency.  Else (le reste du temps) : arbitrer Latency / Consistency.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deuxième moitié est souvent la plus utile : les partitions sont rares, la latence est un problème permanent.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ACID et BASE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contrats différents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385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C3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ACID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957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contrat du relationnel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Atomicité — tout ou rien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— les contraintes tiennent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— les transactions ne se gênent pas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Durabilité — une fois écrit, c'est écrit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737360"/>
            <a:ext cx="5212080" cy="3566160"/>
          </a:xfrm>
          <a:prstGeom prst="roundRect">
            <a:avLst>
              <a:gd name="adj" fmla="val 2308"/>
            </a:avLst>
          </a:prstGeom>
          <a:solidFill>
            <a:srgbClr val="ECF8F3"/>
          </a:solidFill>
          <a:ln w="12700">
            <a:solidFill>
              <a:srgbClr val="ECF8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0" y="19385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3957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Conçu par contraste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78892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Basically Available — le système répond, même dégradé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state — l'état peut changer par propagation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Eventually consistent — les nœuds convergent… au bout d'un moment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532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n'est pas « lequel est le meilleur », mais « de quoi cette donnée a-t-elle besoin ».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 de cette séance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2194560"/>
          </a:xfrm>
          <a:prstGeom prst="roundRect">
            <a:avLst>
              <a:gd name="adj" fmla="val 3750"/>
            </a:avLst>
          </a:prstGeom>
          <a:solidFill>
            <a:srgbClr val="2B2652"/>
          </a:solidFill>
          <a:ln w="12700">
            <a:solidFill>
              <a:srgbClr val="453D7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commentaire met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secondes à apparaître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chez un ami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803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B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grave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0" y="1463040"/>
            <a:ext cx="5212080" cy="2194560"/>
          </a:xfrm>
          <a:prstGeom prst="roundRect">
            <a:avLst>
              <a:gd name="adj" fmla="val 3750"/>
            </a:avLst>
          </a:prstGeom>
          <a:solidFill>
            <a:srgbClr val="2B2652"/>
          </a:solidFill>
          <a:ln w="12700">
            <a:solidFill>
              <a:srgbClr val="453D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0" y="17373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cliquez deux fois vite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un achat à 500 pièces.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en avez 500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8803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skins pour 500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233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même défaut technique — 2 secondes de retard —</a:t>
            </a:r>
            <a:endParaRPr lang="en-US" sz="27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 anodin dans un cas et grave dans l'autre.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20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différence ne vient pas de la technique. Elle vient de la nature de la donnée.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7150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pour cette raison que la monnaie virtuelle de PixelHub restera dans PostgreSQL toute l'année.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idées fausses à évacuer tout de suite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1783080"/>
          </a:xfrm>
          <a:prstGeom prst="roundRect">
            <a:avLst>
              <a:gd name="adj" fmla="val 4615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NoSQL = pas de transactions »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778240" y="1783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Faux.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6771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gère les transactions multi-documents depuis la version 4.0. La différence n'est pas « transactions ou pas » : c'est le périmètre et le coût de la garantie.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64240" cy="1783080"/>
          </a:xfrm>
          <a:prstGeom prst="roundRect">
            <a:avLst>
              <a:gd name="adj" fmla="val 4615"/>
            </a:avLst>
          </a:prstGeom>
          <a:solidFill>
            <a:srgbClr val="F4F3FA"/>
          </a:solidFill>
          <a:ln w="12700">
            <a:solidFill>
              <a:srgbClr val="F4F3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794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NoSQL = pas de schéma »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778240" y="3794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Imprécis.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27939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n'y a pas de schéma imposé par le serveur, mais il y a toujours un schéma : il vit dans le code de votre application. On dit schema-on-read.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schéma n'a pas disparu : il a changé de responsable. Et le nouveau responsable, c'est vous.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persistance polyglotte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moteurs ne sont pas des concurrents : ce sont des outils spécialisés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926080"/>
                <a:gridCol w="502005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 de PixelHub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Pourquoi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Catalogue de jeux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— document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Métadonnées très variables selon le genre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Classements, matchmaking,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joueurs en ligne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— clé-valeur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très fréquent, données éphémères, structures dédiées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Amis, guildes, recommandations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Neo4j — graphe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Parcours de relations en profondeur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Monnaie virtuelle, achats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— relationnel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4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ACID non négociable : on ne débite pas deux fois un joueur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492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application, plusieurs bases. Chacune sur les données pour lesquelles elle est bonne.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séance 5 sera consacrée au prix à payer pour cette cohabitation.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5120640"/>
            <a:ext cx="3108960" cy="3108960"/>
          </a:xfrm>
          <a:prstGeom prst="ellipse">
            <a:avLst/>
          </a:prstGeom>
          <a:solidFill>
            <a:srgbClr val="2B2652"/>
          </a:solidFill>
          <a:ln w="12700">
            <a:solidFill>
              <a:srgbClr val="2B265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qu'on a établi aujourd'hui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45336"/>
            <a:ext cx="274320" cy="274320"/>
          </a:xfrm>
          <a:prstGeom prst="ellipse">
            <a:avLst/>
          </a:prstGeom>
          <a:solidFill>
            <a:srgbClr val="4C3FA8"/>
          </a:solidFill>
          <a:ln w="12700">
            <a:solidFill>
              <a:srgbClr val="4C3F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41732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relationnel n'est pas dépassé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1965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a un domaine de conception. Certaines formes de données en sortent — ce n'est pas la même chose.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60904"/>
            <a:ext cx="274320" cy="274320"/>
          </a:xfrm>
          <a:prstGeom prst="ellipse">
            <a:avLst/>
          </a:prstGeom>
          <a:solidFill>
            <a:srgbClr val="2FBF8F"/>
          </a:solidFill>
          <a:ln w="12700">
            <a:solidFill>
              <a:srgbClr val="2FBF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53288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familles, quatre formes de données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93522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Clé-valeur, document, graphe, colonnes larges. Chacune répond à une forme de question, pas à une taille de données.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76472"/>
            <a:ext cx="274320" cy="274320"/>
          </a:xfrm>
          <a:prstGeom prst="ellipse">
            <a:avLst/>
          </a:prstGeom>
          <a:solidFill>
            <a:srgbClr val="7A6FD0"/>
          </a:solidFill>
          <a:ln w="12700">
            <a:solidFill>
              <a:srgbClr val="7A6F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64845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le réseau casse : cohérence ou disponibilité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05079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ne propose pas trois portes, il en propose deux. Et il ne dit rien du reste du temps.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274320" cy="274320"/>
          </a:xfrm>
          <a:prstGeom prst="ellipse">
            <a:avLst/>
          </a:prstGeom>
          <a:solidFill>
            <a:srgbClr val="FF6B4A"/>
          </a:solidFill>
          <a:ln w="12700">
            <a:solidFill>
              <a:srgbClr val="FF6B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476402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retard est anodin ou grave selon la donnée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516636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secondes sur un classement : personne ne le voit. Deux secondes sur un solde : on paie deux fois.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852160"/>
            <a:ext cx="8778240" cy="658368"/>
          </a:xfrm>
          <a:prstGeom prst="roundRect">
            <a:avLst>
              <a:gd name="adj" fmla="val 12500"/>
            </a:avLst>
          </a:prstGeom>
          <a:solidFill>
            <a:srgbClr val="2B2652"/>
          </a:solidFill>
          <a:ln w="12700">
            <a:solidFill>
              <a:srgbClr val="453D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8521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 — le modèle documentaire, c'est-à-dire la réponse à l'exercice du catalogue.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R5.A.10 - Seance 1</dc:title>
  <dc:subject>PptxGenJS Presentation</dc:subject>
  <dc:creator>IUT - BUT Informatique</dc:creator>
  <cp:lastModifiedBy>IUT - BUT Informatique</cp:lastModifiedBy>
  <cp:revision>1</cp:revision>
  <dcterms:created xsi:type="dcterms:W3CDTF">2026-09-07T07:21:31Z</dcterms:created>
  <dcterms:modified xsi:type="dcterms:W3CDTF">2026-09-07T07:21:31Z</dcterms:modified>
</cp:coreProperties>
</file>